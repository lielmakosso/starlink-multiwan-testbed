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Corbel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Pi1V894XpxVuQ3pIJIbaBOTAd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rbel-regular.fntdata"/><Relationship Id="rId21" Type="http://schemas.openxmlformats.org/officeDocument/2006/relationships/slide" Target="slides/slide16.xml"/><Relationship Id="rId24" Type="http://schemas.openxmlformats.org/officeDocument/2006/relationships/font" Target="fonts/Corbel-italic.fntdata"/><Relationship Id="rId23" Type="http://schemas.openxmlformats.org/officeDocument/2006/relationships/font" Target="fonts/Corbel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/>
          <p:nvPr/>
        </p:nvSpPr>
        <p:spPr>
          <a:xfrm>
            <a:off x="346710" y="365761"/>
            <a:ext cx="17586960" cy="956690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4"/>
          <p:cNvSpPr txBox="1"/>
          <p:nvPr>
            <p:ph type="ctrTitle"/>
          </p:nvPr>
        </p:nvSpPr>
        <p:spPr>
          <a:xfrm>
            <a:off x="1664970" y="1323564"/>
            <a:ext cx="149504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0"/>
              <a:buFont typeface="Corbel"/>
              <a:buNone/>
              <a:defRPr b="1" sz="1080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2564295" y="5804452"/>
            <a:ext cx="13151790" cy="2082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None/>
              <a:defRPr sz="33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640"/>
              <a:buNone/>
              <a:defRPr sz="33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40"/>
              <a:buNone/>
              <a:defRPr sz="33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sz="3000"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4"/>
          <p:cNvCxnSpPr/>
          <p:nvPr/>
        </p:nvCxnSpPr>
        <p:spPr>
          <a:xfrm>
            <a:off x="2967991" y="5600700"/>
            <a:ext cx="12344402" cy="0"/>
          </a:xfrm>
          <a:prstGeom prst="straightConnector1">
            <a:avLst/>
          </a:prstGeom>
          <a:noFill/>
          <a:ln cap="flat" cmpd="sng" w="10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1714501" y="3086100"/>
            <a:ext cx="14809307" cy="6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/>
          <p:nvPr>
            <p:ph type="title"/>
          </p:nvPr>
        </p:nvSpPr>
        <p:spPr>
          <a:xfrm>
            <a:off x="1659636" y="1760363"/>
            <a:ext cx="149504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800"/>
              <a:buFont typeface="Corbel"/>
              <a:buNone/>
              <a:defRPr b="0" sz="10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" type="body"/>
          </p:nvPr>
        </p:nvSpPr>
        <p:spPr>
          <a:xfrm>
            <a:off x="2564892" y="6231780"/>
            <a:ext cx="13153644" cy="204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None/>
              <a:defRPr sz="33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16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68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26"/>
          <p:cNvCxnSpPr/>
          <p:nvPr/>
        </p:nvCxnSpPr>
        <p:spPr>
          <a:xfrm>
            <a:off x="2971801" y="6030612"/>
            <a:ext cx="12344402" cy="0"/>
          </a:xfrm>
          <a:prstGeom prst="straightConnector1">
            <a:avLst/>
          </a:prstGeom>
          <a:noFill/>
          <a:ln cap="flat" cmpd="sng" w="100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1714500" y="3086098"/>
            <a:ext cx="713232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2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Char char="•"/>
              <a:defRPr sz="3300"/>
            </a:lvl1pPr>
            <a:lvl2pPr indent="-3810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3000"/>
            </a:lvl2pPr>
            <a:lvl3pPr indent="-36576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700"/>
            </a:lvl3pPr>
            <a:lvl4pPr indent="-35052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5pPr>
            <a:lvl6pPr indent="-35052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6pPr>
            <a:lvl7pPr indent="-35052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7pPr>
            <a:lvl8pPr indent="-35052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8pPr>
            <a:lvl9pPr indent="-35052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Char char="•"/>
              <a:defRPr sz="24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9401418" y="3086100"/>
            <a:ext cx="713232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2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Char char="•"/>
              <a:defRPr sz="3300"/>
            </a:lvl1pPr>
            <a:lvl2pPr indent="-3810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3000"/>
            </a:lvl2pPr>
            <a:lvl3pPr indent="-36576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700"/>
            </a:lvl3pPr>
            <a:lvl4pPr indent="-35052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5pPr>
            <a:lvl6pPr indent="-35052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6pPr>
            <a:lvl7pPr indent="-35052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7pPr>
            <a:lvl8pPr indent="-35052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8pPr>
            <a:lvl9pPr indent="-35052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Char char="•"/>
              <a:defRPr sz="2400"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1714500" y="3002266"/>
            <a:ext cx="71323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1714500" y="4082225"/>
            <a:ext cx="7132320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2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Char char="•"/>
              <a:defRPr sz="3300"/>
            </a:lvl1pPr>
            <a:lvl2pPr indent="-3810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3000"/>
            </a:lvl2pPr>
            <a:lvl3pPr indent="-36576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700"/>
            </a:lvl3pPr>
            <a:lvl4pPr indent="-35052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5pPr>
            <a:lvl6pPr indent="-35052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6pPr>
            <a:lvl7pPr indent="-35052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7pPr>
            <a:lvl8pPr indent="-35052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8pPr>
            <a:lvl9pPr indent="-35052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Char char="•"/>
              <a:defRPr sz="2400"/>
            </a:lvl9pPr>
          </a:lstStyle>
          <a:p/>
        </p:txBody>
      </p:sp>
      <p:sp>
        <p:nvSpPr>
          <p:cNvPr id="52" name="Google Shape;52;p28"/>
          <p:cNvSpPr txBox="1"/>
          <p:nvPr>
            <p:ph idx="3" type="body"/>
          </p:nvPr>
        </p:nvSpPr>
        <p:spPr>
          <a:xfrm>
            <a:off x="9403760" y="2998548"/>
            <a:ext cx="713232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None/>
              <a:defRPr b="1" sz="2400"/>
            </a:lvl9pPr>
          </a:lstStyle>
          <a:p/>
        </p:txBody>
      </p:sp>
      <p:sp>
        <p:nvSpPr>
          <p:cNvPr id="53" name="Google Shape;53;p28"/>
          <p:cNvSpPr txBox="1"/>
          <p:nvPr>
            <p:ph idx="4" type="body"/>
          </p:nvPr>
        </p:nvSpPr>
        <p:spPr>
          <a:xfrm>
            <a:off x="9403760" y="4078983"/>
            <a:ext cx="7132320" cy="507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2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2640"/>
              <a:buChar char="•"/>
              <a:defRPr sz="3300"/>
            </a:lvl1pPr>
            <a:lvl2pPr indent="-3810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3000"/>
            </a:lvl2pPr>
            <a:lvl3pPr indent="-36576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700"/>
            </a:lvl3pPr>
            <a:lvl4pPr indent="-35052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5pPr>
            <a:lvl6pPr indent="-35052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6pPr>
            <a:lvl7pPr indent="-35052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7pPr>
            <a:lvl8pPr indent="-35052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8pPr>
            <a:lvl9pPr indent="-35052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920"/>
              <a:buChar char="•"/>
              <a:defRPr sz="2400"/>
            </a:lvl9pPr>
          </a:lstStyle>
          <a:p/>
        </p:txBody>
      </p:sp>
      <p:sp>
        <p:nvSpPr>
          <p:cNvPr id="54" name="Google Shape;54;p28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1714500" y="1645920"/>
            <a:ext cx="58978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orbel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778239" y="1645920"/>
            <a:ext cx="7818120" cy="699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840"/>
              <a:buChar char="•"/>
              <a:defRPr sz="4800"/>
            </a:lvl1pPr>
            <a:lvl2pPr indent="-44196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360"/>
              <a:buChar char="•"/>
              <a:defRPr sz="4200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80"/>
              <a:buChar char="•"/>
              <a:defRPr sz="360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30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30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30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30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30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Char char="•"/>
              <a:defRPr sz="30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1714500" y="4251960"/>
            <a:ext cx="589788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40"/>
              <a:buNone/>
              <a:defRPr sz="255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080"/>
              <a:buNone/>
              <a:defRPr sz="135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1714500" y="1645920"/>
            <a:ext cx="58978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orbel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/>
          <p:nvPr>
            <p:ph idx="2" type="pic"/>
          </p:nvPr>
        </p:nvSpPr>
        <p:spPr>
          <a:xfrm>
            <a:off x="8119872" y="1604771"/>
            <a:ext cx="9148572" cy="720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1"/>
          <p:cNvSpPr txBox="1"/>
          <p:nvPr>
            <p:ph idx="1" type="body"/>
          </p:nvPr>
        </p:nvSpPr>
        <p:spPr>
          <a:xfrm>
            <a:off x="1714500" y="4251960"/>
            <a:ext cx="589788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040"/>
              <a:buNone/>
              <a:defRPr sz="255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8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080"/>
              <a:buNone/>
              <a:defRPr sz="1350"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" type="body"/>
          </p:nvPr>
        </p:nvSpPr>
        <p:spPr>
          <a:xfrm rot="5400000">
            <a:off x="6090205" y="-1289604"/>
            <a:ext cx="6057900" cy="14809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 rot="5400000">
            <a:off x="10772775" y="3457575"/>
            <a:ext cx="8115300" cy="348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 rot="5400000">
            <a:off x="3228975" y="-371475"/>
            <a:ext cx="8115300" cy="1114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346710" y="365761"/>
            <a:ext cx="17586960" cy="95669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2"/>
          <p:cNvSpPr txBox="1"/>
          <p:nvPr>
            <p:ph type="title"/>
          </p:nvPr>
        </p:nvSpPr>
        <p:spPr>
          <a:xfrm>
            <a:off x="1714500" y="914400"/>
            <a:ext cx="14813280" cy="203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Corbel"/>
              <a:buNone/>
              <a:defRPr b="0" i="0" sz="6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1714501" y="3086100"/>
            <a:ext cx="14809307" cy="6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6240" lvl="0" marL="457200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2640"/>
              <a:buFont typeface="Corbel"/>
              <a:buChar char="•"/>
              <a:defRPr b="0" i="0" sz="33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rbel"/>
              <a:buChar char="•"/>
              <a:defRPr b="0" i="0" sz="30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6576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Corbel"/>
              <a:buChar char="•"/>
              <a:defRPr b="0" i="0" sz="27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052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052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052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052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052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052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920"/>
              <a:buFont typeface="Corbel"/>
              <a:buChar char="•"/>
              <a:defRPr b="0" i="0" sz="2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0" type="dt"/>
          </p:nvPr>
        </p:nvSpPr>
        <p:spPr>
          <a:xfrm>
            <a:off x="1714494" y="9335743"/>
            <a:ext cx="349361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1" type="ftr"/>
          </p:nvPr>
        </p:nvSpPr>
        <p:spPr>
          <a:xfrm>
            <a:off x="5923722" y="9335743"/>
            <a:ext cx="7076661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13994296" y="9335743"/>
            <a:ext cx="255932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Relationship Id="rId4" Type="http://schemas.openxmlformats.org/officeDocument/2006/relationships/image" Target="../media/image22.jp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74475"/>
            <a:ext cx="4648200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9100" y="461974"/>
            <a:ext cx="3970700" cy="19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478830"/>
            <a:ext cx="4495799" cy="1968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1447800" y="4275525"/>
            <a:ext cx="15316200" cy="1591200"/>
          </a:xfrm>
          <a:prstGeom prst="roundRect">
            <a:avLst>
              <a:gd fmla="val 17960" name="adj"/>
            </a:avLst>
          </a:prstGeom>
          <a:solidFill>
            <a:srgbClr val="B0C9DE"/>
          </a:solidFill>
          <a:ln cap="flat" cmpd="sng" w="100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 Télécommunications Starlink : Complément aux Infrastructures Terrestres </a:t>
            </a:r>
            <a:r>
              <a:rPr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352225" y="2536200"/>
            <a:ext cx="10551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MINISTERE DE L’ENSEIGNEMENT SUPERIEUR DE LA RECHERCHE ET DE L’INNOVATION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*************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GÉNÉRALE</a:t>
            </a: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L’ENSEIGNEMENT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SUPÉRIEUR</a:t>
            </a: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PRIVÉ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*************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806175" y="6054325"/>
            <a:ext cx="7593000" cy="3804000"/>
          </a:xfrm>
          <a:prstGeom prst="foldedCorner">
            <a:avLst>
              <a:gd fmla="val 16667" name="adj"/>
            </a:avLst>
          </a:prstGeom>
          <a:solidFill>
            <a:srgbClr val="B1B1B1"/>
          </a:solidFill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 PAR GROUPE 4 :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OUSSEYNOU 		KABA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KHALILOU 			SYLLA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ELYASSINE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SALIM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LIEL 					MAKASSO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LEONEL 				GBIAPEKE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ELHADJ 				GUEYE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NOELA NLOKA 	GRACE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10824100" y="4370400"/>
            <a:ext cx="8330175" cy="2341040"/>
            <a:chOff x="-14" y="247666"/>
            <a:chExt cx="11106900" cy="3121386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-14" y="247666"/>
              <a:ext cx="11106900" cy="6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80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2-ARCHITECTURE DE L'APPLICATION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85750" y="1057252"/>
              <a:ext cx="7624800" cy="23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6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État de l'art multi-WAN, choix technologiques (pfSense), virtualisation et configuration.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3224915" y="4377532"/>
            <a:ext cx="5718600" cy="1901172"/>
            <a:chOff x="0" y="-28575"/>
            <a:chExt cx="7624800" cy="2534897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0" y="-28575"/>
              <a:ext cx="76248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4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1-CONTEXTE &amp; VISION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1095422"/>
              <a:ext cx="7624800" cy="14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6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Zones blanches, résilience WAN, objectifs et périmètre du banc d'essai.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0857887" y="7228205"/>
            <a:ext cx="5718600" cy="1101555"/>
            <a:chOff x="0" y="140494"/>
            <a:chExt cx="7624800" cy="146874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0" y="140494"/>
              <a:ext cx="7624800" cy="6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80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4-ROADMAP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1021534"/>
              <a:ext cx="7624800" cy="5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6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Perspectives d'évolution et conclusion.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3224926" y="7255001"/>
            <a:ext cx="6528354" cy="1645842"/>
            <a:chOff x="0" y="257175"/>
            <a:chExt cx="7624800" cy="2194456"/>
          </a:xfrm>
        </p:grpSpPr>
        <p:sp>
          <p:nvSpPr>
            <p:cNvPr id="112" name="Google Shape;112;p2"/>
            <p:cNvSpPr txBox="1"/>
            <p:nvPr/>
          </p:nvSpPr>
          <p:spPr>
            <a:xfrm>
              <a:off x="0" y="257175"/>
              <a:ext cx="7624800" cy="6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1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3-DÉMONSTRATION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843631"/>
              <a:ext cx="7624800" cy="16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64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Scénarios de test, démo live, supervision Zabbix, résultats et limites.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5564550" y="557430"/>
            <a:ext cx="7135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Sommaire</a:t>
            </a:r>
            <a:endParaRPr b="1" sz="9199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lobe terrestre : Amériques avec un remplissage uni"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8597" y="4248979"/>
            <a:ext cx="1080207" cy="894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avec un remplissage uni" id="116" name="Google Shape;1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4248979"/>
            <a:ext cx="914400" cy="11006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dinateur avec un remplissage uni"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45732" y="7149358"/>
            <a:ext cx="1117661" cy="1168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un remplissage uni" id="118" name="Google Shape;11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50339" y="7490361"/>
            <a:ext cx="1117661" cy="1100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5732" y="773832"/>
            <a:ext cx="3650204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50834" y="562561"/>
            <a:ext cx="3881437" cy="3487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3003352" y="485775"/>
            <a:ext cx="12320100" cy="13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– Contexte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572000" y="2181225"/>
            <a:ext cx="13215900" cy="7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n-US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Aujourd’hui, l’accès à Internet reste encore limité dans certaines zones rurales et isolées, tandis que les infrastructures existantes reposent sur des technologies de plus en plus diversifiées : fibre optique, 4G/5G et liaisons radio. Cette hétérogénéité rend la gestion du réseau plus complexe et augmente le besoin de continuité et de résilience.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n-US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ce contexte, Starlink, basé sur une constellation de satellites en orbite basse (LEO), peut constituer une solution complémentaire aux infrastructures terrestres. Intégré dans une architecture multi-WAN, il peut servir de lien de secours afin de maintenir la connectivité lorsqu’une liaison principale devient indisponible.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n-US" sz="2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Notre projet consiste donc à étudier l’intégration de Starlink dans une architecture multi-WAN afin d’améliorer la résilience, la disponibilité et la continuité des services réseau.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73" y="2172925"/>
            <a:ext cx="3751074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4"/>
          <p:cNvGrpSpPr/>
          <p:nvPr/>
        </p:nvGrpSpPr>
        <p:grpSpPr>
          <a:xfrm>
            <a:off x="10824098" y="2907960"/>
            <a:ext cx="6671925" cy="3268915"/>
            <a:chOff x="-17" y="-28575"/>
            <a:chExt cx="8895900" cy="4358553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0" y="-28575"/>
              <a:ext cx="76248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OBJECTIF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-17" y="836178"/>
              <a:ext cx="8895900" cy="34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Intégrer Starlink comme lien WAN dans une architecture multi-WAN pour renforcer la résilience et la continuité de service.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005575" y="2999808"/>
            <a:ext cx="6671925" cy="2502942"/>
            <a:chOff x="-292453" y="-28575"/>
            <a:chExt cx="8895900" cy="3337255"/>
          </a:xfrm>
        </p:grpSpPr>
        <p:sp>
          <p:nvSpPr>
            <p:cNvPr id="136" name="Google Shape;136;p4"/>
            <p:cNvSpPr txBox="1"/>
            <p:nvPr/>
          </p:nvSpPr>
          <p:spPr>
            <a:xfrm>
              <a:off x="0" y="-28575"/>
              <a:ext cx="76248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4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PROBLÈME ADRESSÉ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-292453" y="833380"/>
              <a:ext cx="8895900" cy="24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Zones isolées, réseaux hétérogènes (fibre, 4G/5G, radio) et besoin de continuité quand le lien principal tombe.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10857873" y="6255625"/>
            <a:ext cx="6807421" cy="2797550"/>
            <a:chOff x="0" y="-28575"/>
            <a:chExt cx="7624800" cy="3730067"/>
          </a:xfrm>
        </p:grpSpPr>
        <p:sp>
          <p:nvSpPr>
            <p:cNvPr id="139" name="Google Shape;139;p4"/>
            <p:cNvSpPr txBox="1"/>
            <p:nvPr/>
          </p:nvSpPr>
          <p:spPr>
            <a:xfrm>
              <a:off x="0" y="-28575"/>
              <a:ext cx="7624800" cy="7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APPROCHE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836192"/>
              <a:ext cx="7624800" cy="28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Banc d'essai 100 % émulé et gratuit : GNS3, tc netem, pfSense et Zabbix, sans matériel propriétaire.</a:t>
              </a:r>
              <a:endParaRPr sz="3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1" name="Google Shape;141;p4"/>
          <p:cNvGrpSpPr/>
          <p:nvPr/>
        </p:nvGrpSpPr>
        <p:grpSpPr>
          <a:xfrm>
            <a:off x="3258701" y="6041325"/>
            <a:ext cx="6229462" cy="3423831"/>
            <a:chOff x="0" y="-28575"/>
            <a:chExt cx="7624800" cy="4565108"/>
          </a:xfrm>
        </p:grpSpPr>
        <p:sp>
          <p:nvSpPr>
            <p:cNvPr id="142" name="Google Shape;142;p4"/>
            <p:cNvSpPr txBox="1"/>
            <p:nvPr/>
          </p:nvSpPr>
          <p:spPr>
            <a:xfrm>
              <a:off x="0" y="-28575"/>
              <a:ext cx="7624800" cy="7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RÉSULTAT VISÉ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829133"/>
              <a:ext cx="7624800" cy="37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Une bascule automatique mesurée (RTO) avec une QoS VoIP préservée, reproductible par l'équipe.</a:t>
              </a:r>
              <a:endParaRPr sz="3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4100352" y="741175"/>
            <a:ext cx="8142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9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 du projet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que à barres avec tendance à la baisse avec un remplissage uni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039" y="328000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baisse avec un remplissage uni"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400" y="709605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177" y="617960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148" name="Google Shape;1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5000" y="340503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10824098" y="3979523"/>
            <a:ext cx="6688350" cy="2505052"/>
            <a:chOff x="-17" y="-28575"/>
            <a:chExt cx="8917800" cy="3340070"/>
          </a:xfrm>
        </p:grpSpPr>
        <p:sp>
          <p:nvSpPr>
            <p:cNvPr id="154" name="Google Shape;154;p5"/>
            <p:cNvSpPr txBox="1"/>
            <p:nvPr/>
          </p:nvSpPr>
          <p:spPr>
            <a:xfrm>
              <a:off x="0" y="-28575"/>
              <a:ext cx="76248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DIRECT-TO-CELL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-17" y="836195"/>
              <a:ext cx="8917800" cy="24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Intégration directe dans les réseaux mobiles existants. Compatible 4G/5G sans matériel supplémentaire.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3224915" y="4163219"/>
            <a:ext cx="6466511" cy="2502931"/>
            <a:chOff x="0" y="-28575"/>
            <a:chExt cx="8622015" cy="3337241"/>
          </a:xfrm>
        </p:grpSpPr>
        <p:sp>
          <p:nvSpPr>
            <p:cNvPr id="157" name="Google Shape;157;p5"/>
            <p:cNvSpPr txBox="1"/>
            <p:nvPr/>
          </p:nvSpPr>
          <p:spPr>
            <a:xfrm>
              <a:off x="0" y="-28575"/>
              <a:ext cx="7624800" cy="6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4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TRANSPORT WAN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15" y="833366"/>
              <a:ext cx="8622000" cy="24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Accès Internet via satellite LEO. Intégration comme lien WAN dans une architecture multi-WAN résiliente.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9" name="Google Shape;159;p5"/>
          <p:cNvGrpSpPr/>
          <p:nvPr/>
        </p:nvGrpSpPr>
        <p:grpSpPr>
          <a:xfrm>
            <a:off x="10857873" y="6990420"/>
            <a:ext cx="6899400" cy="2622055"/>
            <a:chOff x="-19" y="-28575"/>
            <a:chExt cx="9199200" cy="3496073"/>
          </a:xfrm>
        </p:grpSpPr>
        <p:sp>
          <p:nvSpPr>
            <p:cNvPr id="160" name="Google Shape;160;p5"/>
            <p:cNvSpPr txBox="1"/>
            <p:nvPr/>
          </p:nvSpPr>
          <p:spPr>
            <a:xfrm>
              <a:off x="0" y="-28575"/>
              <a:ext cx="76248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PÉRIMÈTRE RETENU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-19" y="836198"/>
              <a:ext cx="9199200" cy="26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 projet : Transport WAN en architecture multi-WAN avec pfSense. Émulation via tc netem.</a:t>
              </a:r>
              <a:endParaRPr sz="3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3258691" y="7021036"/>
            <a:ext cx="6688361" cy="2647367"/>
            <a:chOff x="0" y="-69396"/>
            <a:chExt cx="8917814" cy="3529823"/>
          </a:xfrm>
        </p:grpSpPr>
        <p:sp>
          <p:nvSpPr>
            <p:cNvPr id="163" name="Google Shape;163;p5"/>
            <p:cNvSpPr txBox="1"/>
            <p:nvPr/>
          </p:nvSpPr>
          <p:spPr>
            <a:xfrm>
              <a:off x="0" y="-69396"/>
              <a:ext cx="7624800" cy="6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AVANTAGES &amp; CONTRAINTES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14" y="829127"/>
              <a:ext cx="8917800" cy="26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Faible latence LEO (~40 ms), couverture mondiale. Contraintes : jitter, météo, coût abonnement.</a:t>
              </a:r>
              <a:endParaRPr sz="3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3778874" y="663775"/>
            <a:ext cx="8773800" cy="27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Cadrage Technique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Usages de Starlink</a:t>
            </a:r>
            <a:endParaRPr sz="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nformatique hébergé avec un remplissage uni" id="166" name="Google Shape;1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260" y="703049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Écran avec un remplissage uni" id="167" name="Google Shape;1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1260" y="442502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avec un remplissage uni"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6373" y="435365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6373" y="72297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6"/>
          <p:cNvGrpSpPr/>
          <p:nvPr/>
        </p:nvGrpSpPr>
        <p:grpSpPr>
          <a:xfrm>
            <a:off x="1028700" y="679607"/>
            <a:ext cx="7349906" cy="1976737"/>
            <a:chOff x="0" y="-663151"/>
            <a:chExt cx="9799875" cy="2635650"/>
          </a:xfrm>
        </p:grpSpPr>
        <p:sp>
          <p:nvSpPr>
            <p:cNvPr id="176" name="Google Shape;176;p6"/>
            <p:cNvSpPr txBox="1"/>
            <p:nvPr/>
          </p:nvSpPr>
          <p:spPr>
            <a:xfrm>
              <a:off x="0" y="-663151"/>
              <a:ext cx="9657000" cy="80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19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Paramètres NTN et Périmètre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142875" y="436198"/>
              <a:ext cx="9657000" cy="15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19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Comparaison conditions réelles vs émulées (banc d'essai)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8" name="Google Shape;178;p6"/>
          <p:cNvSpPr/>
          <p:nvPr/>
        </p:nvSpPr>
        <p:spPr>
          <a:xfrm>
            <a:off x="1028700" y="4117619"/>
            <a:ext cx="293489" cy="293489"/>
          </a:xfrm>
          <a:prstGeom prst="rect">
            <a:avLst/>
          </a:prstGeom>
          <a:solidFill>
            <a:srgbClr val="1353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1028700" y="5142801"/>
            <a:ext cx="293489" cy="293489"/>
          </a:xfrm>
          <a:prstGeom prst="rect">
            <a:avLst/>
          </a:prstGeom>
          <a:solidFill>
            <a:srgbClr val="2C92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028700" y="6167982"/>
            <a:ext cx="293489" cy="293489"/>
          </a:xfrm>
          <a:prstGeom prst="rect">
            <a:avLst/>
          </a:prstGeom>
          <a:solidFill>
            <a:srgbClr val="37C9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28700" y="7193164"/>
            <a:ext cx="293489" cy="293489"/>
          </a:xfrm>
          <a:prstGeom prst="rect">
            <a:avLst/>
          </a:prstGeom>
          <a:solidFill>
            <a:srgbClr val="3EDA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028700" y="8218346"/>
            <a:ext cx="293489" cy="293489"/>
          </a:xfrm>
          <a:prstGeom prst="rect">
            <a:avLst/>
          </a:prstGeom>
          <a:solidFill>
            <a:srgbClr val="86EA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703189" y="8129981"/>
            <a:ext cx="3640416" cy="441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rPr>
              <a:t>DISPONIBILITÉ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703189" y="7104800"/>
            <a:ext cx="3640416" cy="441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rPr>
              <a:t>PERTE DE PAQUETS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703189" y="6110574"/>
            <a:ext cx="3640416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49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rPr>
              <a:t>JITTER (MS)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1703189" y="5103490"/>
            <a:ext cx="3640416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rPr>
              <a:t>BANDE PASSANTE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703189" y="4029255"/>
            <a:ext cx="3640416" cy="441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4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rPr>
              <a:t>LATENCE (MS)</a:t>
            </a: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1041275"/>
            <a:ext cx="9477537" cy="847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7"/>
          <p:cNvGrpSpPr/>
          <p:nvPr/>
        </p:nvGrpSpPr>
        <p:grpSpPr>
          <a:xfrm>
            <a:off x="10556209" y="2808968"/>
            <a:ext cx="6829875" cy="3187332"/>
            <a:chOff x="-357202" y="-38100"/>
            <a:chExt cx="9106500" cy="4249776"/>
          </a:xfrm>
        </p:grpSpPr>
        <p:sp>
          <p:nvSpPr>
            <p:cNvPr id="194" name="Google Shape;194;p7"/>
            <p:cNvSpPr txBox="1"/>
            <p:nvPr/>
          </p:nvSpPr>
          <p:spPr>
            <a:xfrm>
              <a:off x="0" y="-38100"/>
              <a:ext cx="76248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13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BONDING / LACP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-357202" y="791676"/>
              <a:ext cx="9106500" cy="34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4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Agrégation au niveau liaison (L2). Haute disponibilité et répartition de charge, mais nécessite des équipements compatibles.</a:t>
              </a:r>
              <a:endParaRPr sz="3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6" name="Google Shape;196;p7"/>
          <p:cNvGrpSpPr/>
          <p:nvPr/>
        </p:nvGrpSpPr>
        <p:grpSpPr>
          <a:xfrm>
            <a:off x="2903446" y="2846728"/>
            <a:ext cx="5718600" cy="3257622"/>
            <a:chOff x="0" y="-28575"/>
            <a:chExt cx="7624800" cy="4343496"/>
          </a:xfrm>
        </p:grpSpPr>
        <p:sp>
          <p:nvSpPr>
            <p:cNvPr id="197" name="Google Shape;197;p7"/>
            <p:cNvSpPr txBox="1"/>
            <p:nvPr/>
          </p:nvSpPr>
          <p:spPr>
            <a:xfrm>
              <a:off x="0" y="-28575"/>
              <a:ext cx="7624800" cy="77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89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MLPPP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0" y="788421"/>
              <a:ext cx="7624800" cy="35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4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Agrégation de liens PPP sur plusieurs interfaces WAN. Augmente la bande passante mais limité aux liaisons point-à-point.</a:t>
              </a:r>
              <a:endParaRPr sz="3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9" name="Google Shape;199;p7"/>
          <p:cNvGrpSpPr/>
          <p:nvPr/>
        </p:nvGrpSpPr>
        <p:grpSpPr>
          <a:xfrm>
            <a:off x="10697139" y="6126021"/>
            <a:ext cx="6501375" cy="3267220"/>
            <a:chOff x="-18" y="-38107"/>
            <a:chExt cx="8668500" cy="4356294"/>
          </a:xfrm>
        </p:grpSpPr>
        <p:sp>
          <p:nvSpPr>
            <p:cNvPr id="200" name="Google Shape;200;p7"/>
            <p:cNvSpPr txBox="1"/>
            <p:nvPr/>
          </p:nvSpPr>
          <p:spPr>
            <a:xfrm>
              <a:off x="-18" y="-38107"/>
              <a:ext cx="8668500" cy="7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13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GATEWAY GROUPS (PFSENSE)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0" y="791687"/>
              <a:ext cx="7624800" cy="35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4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Failover et load balancing multi-WAN natifs. Basculement automatisé avec surveillance des passerelles par ICMP/SNMP.</a:t>
              </a:r>
              <a:endParaRPr sz="3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3097957" y="6133170"/>
            <a:ext cx="6501384" cy="3254555"/>
            <a:chOff x="0" y="-28575"/>
            <a:chExt cx="8668512" cy="4339406"/>
          </a:xfrm>
        </p:grpSpPr>
        <p:sp>
          <p:nvSpPr>
            <p:cNvPr id="203" name="Google Shape;203;p7"/>
            <p:cNvSpPr txBox="1"/>
            <p:nvPr/>
          </p:nvSpPr>
          <p:spPr>
            <a:xfrm>
              <a:off x="0" y="-28575"/>
              <a:ext cx="7624800" cy="7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30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MPTCP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12" y="784331"/>
              <a:ext cx="8668500" cy="35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4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Multipath TCP : utilise plusieurs chemins réseau simultanément. Résilience accrue et meilleure utilisation de la bande passante.</a:t>
              </a:r>
              <a:endParaRPr sz="3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05" name="Google Shape;205;p7"/>
          <p:cNvSpPr txBox="1"/>
          <p:nvPr/>
        </p:nvSpPr>
        <p:spPr>
          <a:xfrm>
            <a:off x="2091174" y="904875"/>
            <a:ext cx="150270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Multi-WAN : État de l'art</a:t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ésentation avec graphique à barres avec un remplissage uni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0" y="324473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ésentation avec graphique à barres avec un remplissage uni"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884" y="33365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un remplissage uni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7585" y="635416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un remplissage uni" id="209" name="Google Shape;2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177" y="656848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8"/>
          <p:cNvGrpSpPr/>
          <p:nvPr/>
        </p:nvGrpSpPr>
        <p:grpSpPr>
          <a:xfrm>
            <a:off x="2362200" y="5026107"/>
            <a:ext cx="14180623" cy="1220086"/>
            <a:chOff x="-11282547" y="836192"/>
            <a:chExt cx="18907496" cy="1626782"/>
          </a:xfrm>
        </p:grpSpPr>
        <p:sp>
          <p:nvSpPr>
            <p:cNvPr id="215" name="Google Shape;215;p8"/>
            <p:cNvSpPr txBox="1"/>
            <p:nvPr/>
          </p:nvSpPr>
          <p:spPr>
            <a:xfrm>
              <a:off x="-11282547" y="1806874"/>
              <a:ext cx="7624800" cy="6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7">
                  <a:solidFill>
                    <a:srgbClr val="2C92D5"/>
                  </a:solidFill>
                </a:rPr>
                <a:t>PFSENSE</a:t>
              </a:r>
              <a:endParaRPr/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0" y="836192"/>
              <a:ext cx="7624949" cy="390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8"/>
          <p:cNvGrpSpPr/>
          <p:nvPr/>
        </p:nvGrpSpPr>
        <p:grpSpPr>
          <a:xfrm>
            <a:off x="2184834" y="4063431"/>
            <a:ext cx="6758793" cy="1253328"/>
            <a:chOff x="-1386775" y="-447376"/>
            <a:chExt cx="9011724" cy="1671103"/>
          </a:xfrm>
        </p:grpSpPr>
        <p:sp>
          <p:nvSpPr>
            <p:cNvPr id="218" name="Google Shape;218;p8"/>
            <p:cNvSpPr txBox="1"/>
            <p:nvPr/>
          </p:nvSpPr>
          <p:spPr>
            <a:xfrm>
              <a:off x="-1386775" y="-447376"/>
              <a:ext cx="7624800" cy="6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3197">
                  <a:solidFill>
                    <a:srgbClr val="2C92D5"/>
                  </a:solidFill>
                </a:rPr>
                <a:t>ZABBIX</a:t>
              </a:r>
              <a:endParaRPr/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0" y="833364"/>
              <a:ext cx="7624949" cy="390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73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3258691" y="7878630"/>
            <a:ext cx="57186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2091175" y="1085850"/>
            <a:ext cx="18107700" cy="25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4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Multi-WAN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4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Choix Technologiques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rdinateur avec un remplissage uni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777" y="554926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avec un remplissage uni"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439" y="382333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6940" y="3798360"/>
            <a:ext cx="8837260" cy="531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>
            <a:off x="10904478" y="2575521"/>
            <a:ext cx="5718600" cy="2290167"/>
            <a:chOff x="0" y="-38100"/>
            <a:chExt cx="7624800" cy="3053556"/>
          </a:xfrm>
        </p:grpSpPr>
        <p:sp>
          <p:nvSpPr>
            <p:cNvPr id="230" name="Google Shape;230;p9"/>
            <p:cNvSpPr txBox="1"/>
            <p:nvPr/>
          </p:nvSpPr>
          <p:spPr>
            <a:xfrm>
              <a:off x="0" y="-38100"/>
              <a:ext cx="76248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79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VIRTUALISATION VMWARE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755856"/>
              <a:ext cx="7624800" cy="22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VMware héberge les instances pfSense et les serveurs de test dans un environnement isolé et contrôlé.</a:t>
              </a:r>
              <a:endParaRPr sz="2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3224915" y="2655888"/>
            <a:ext cx="6446036" cy="2355512"/>
            <a:chOff x="0" y="-38100"/>
            <a:chExt cx="8594715" cy="3140683"/>
          </a:xfrm>
        </p:grpSpPr>
        <p:sp>
          <p:nvSpPr>
            <p:cNvPr id="233" name="Google Shape;233;p9"/>
            <p:cNvSpPr txBox="1"/>
            <p:nvPr/>
          </p:nvSpPr>
          <p:spPr>
            <a:xfrm>
              <a:off x="0" y="-38100"/>
              <a:ext cx="7624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74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ÉMULATION RÉSEAU GNS3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15" y="764983"/>
              <a:ext cx="8594700" cy="23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GNS3 permet d'émuler la topologie multi-WAN complète avec routeurs et switches virtuels.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10857872" y="5540489"/>
            <a:ext cx="7052625" cy="2290172"/>
            <a:chOff x="-20" y="-38107"/>
            <a:chExt cx="9403500" cy="3053563"/>
          </a:xfrm>
        </p:grpSpPr>
        <p:sp>
          <p:nvSpPr>
            <p:cNvPr id="236" name="Google Shape;236;p9"/>
            <p:cNvSpPr txBox="1"/>
            <p:nvPr/>
          </p:nvSpPr>
          <p:spPr>
            <a:xfrm>
              <a:off x="-20" y="-38107"/>
              <a:ext cx="9403500" cy="6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79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REPRODUCTIBILITÉ DES TESTS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9"/>
            <p:cNvSpPr txBox="1"/>
            <p:nvPr/>
          </p:nvSpPr>
          <p:spPr>
            <a:xfrm>
              <a:off x="0" y="755856"/>
              <a:ext cx="7624800" cy="22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L'environnement virtuel garantit des tests reproductibles et un contrôle précis de toutes les variables.</a:t>
              </a:r>
              <a:endParaRPr sz="2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58691" y="5688727"/>
            <a:ext cx="5718600" cy="2279732"/>
            <a:chOff x="0" y="-19050"/>
            <a:chExt cx="7624800" cy="3039642"/>
          </a:xfrm>
        </p:grpSpPr>
        <p:sp>
          <p:nvSpPr>
            <p:cNvPr id="239" name="Google Shape;239;p9"/>
            <p:cNvSpPr txBox="1"/>
            <p:nvPr/>
          </p:nvSpPr>
          <p:spPr>
            <a:xfrm>
              <a:off x="0" y="-19050"/>
              <a:ext cx="76248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9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ÉMULATION TC NETEM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0" y="760992"/>
              <a:ext cx="7624800" cy="22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tc netem simule les conditions du lien Starlink : latence LEO, jitter et perte de paquets configurables.</a:t>
              </a:r>
              <a:endParaRPr sz="2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1" name="Google Shape;241;p9"/>
          <p:cNvSpPr txBox="1"/>
          <p:nvPr/>
        </p:nvSpPr>
        <p:spPr>
          <a:xfrm>
            <a:off x="1316495" y="900125"/>
            <a:ext cx="163185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45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Mise en œuvre – Environnement de Virtualisation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810" y="3080119"/>
            <a:ext cx="1033023" cy="84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9324" y="2840506"/>
            <a:ext cx="1256687" cy="1014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ste avec un remplissage uni" id="244" name="Google Shape;24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4493" y="564129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formatique hébergé avec un remplissage uni" id="245" name="Google Shape;24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77296" y="5802033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600">
    <p:blinds dir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0"/>
          <p:cNvGrpSpPr/>
          <p:nvPr/>
        </p:nvGrpSpPr>
        <p:grpSpPr>
          <a:xfrm>
            <a:off x="10824098" y="3489666"/>
            <a:ext cx="6627150" cy="2505476"/>
            <a:chOff x="-17" y="-1212396"/>
            <a:chExt cx="8836200" cy="3340634"/>
          </a:xfrm>
        </p:grpSpPr>
        <p:sp>
          <p:nvSpPr>
            <p:cNvPr id="251" name="Google Shape;251;p10"/>
            <p:cNvSpPr txBox="1"/>
            <p:nvPr/>
          </p:nvSpPr>
          <p:spPr>
            <a:xfrm>
              <a:off x="0" y="-1212396"/>
              <a:ext cx="7624800" cy="7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4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PRIORITÉ LIEN TERRESTRE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10"/>
            <p:cNvSpPr txBox="1"/>
            <p:nvPr/>
          </p:nvSpPr>
          <p:spPr>
            <a:xfrm>
              <a:off x="-17" y="-287363"/>
              <a:ext cx="8836200" cy="24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 lien terrestre est priorisé sur Starlink (OPT1) avec basculement automatique en cas de défaillance détectée.</a:t>
              </a:r>
              <a:endParaRPr sz="2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3" name="Google Shape;253;p10"/>
          <p:cNvGrpSpPr/>
          <p:nvPr/>
        </p:nvGrpSpPr>
        <p:grpSpPr>
          <a:xfrm>
            <a:off x="3224915" y="3520284"/>
            <a:ext cx="5718600" cy="2118916"/>
            <a:chOff x="0" y="-1171573"/>
            <a:chExt cx="7624800" cy="2825222"/>
          </a:xfrm>
        </p:grpSpPr>
        <p:sp>
          <p:nvSpPr>
            <p:cNvPr id="254" name="Google Shape;254;p10"/>
            <p:cNvSpPr txBox="1"/>
            <p:nvPr/>
          </p:nvSpPr>
          <p:spPr>
            <a:xfrm>
              <a:off x="0" y="-1171573"/>
              <a:ext cx="7624800" cy="6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4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GATEWAY GROUPS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10"/>
            <p:cNvSpPr txBox="1"/>
            <p:nvPr/>
          </p:nvSpPr>
          <p:spPr>
            <a:xfrm>
              <a:off x="0" y="-371951"/>
              <a:ext cx="7624800" cy="20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Configuration des groupes de passerelles pour le failover automatique et le load balancing entre les liens WAN.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0857873" y="6531180"/>
            <a:ext cx="6627150" cy="2360592"/>
            <a:chOff x="-19" y="-967466"/>
            <a:chExt cx="8836200" cy="3147456"/>
          </a:xfrm>
        </p:grpSpPr>
        <p:sp>
          <p:nvSpPr>
            <p:cNvPr id="257" name="Google Shape;257;p10"/>
            <p:cNvSpPr txBox="1"/>
            <p:nvPr/>
          </p:nvSpPr>
          <p:spPr>
            <a:xfrm>
              <a:off x="-19" y="-967466"/>
              <a:ext cx="8836200" cy="70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4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ROUTAGE DYNAMIQUE OSPF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10"/>
            <p:cNvSpPr txBox="1"/>
            <p:nvPr/>
          </p:nvSpPr>
          <p:spPr>
            <a:xfrm>
              <a:off x="81643" y="-1610"/>
              <a:ext cx="7624800" cy="21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Activation d'OSPF pour un routage dynamique avec mise à jour rapide des tables de routage en cas de coupure.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9" name="Google Shape;259;p10"/>
          <p:cNvGrpSpPr/>
          <p:nvPr/>
        </p:nvGrpSpPr>
        <p:grpSpPr>
          <a:xfrm>
            <a:off x="3258691" y="6401566"/>
            <a:ext cx="6905936" cy="3014420"/>
            <a:chOff x="0" y="-1140286"/>
            <a:chExt cx="9207914" cy="4019229"/>
          </a:xfrm>
        </p:grpSpPr>
        <p:sp>
          <p:nvSpPr>
            <p:cNvPr id="260" name="Google Shape;260;p10"/>
            <p:cNvSpPr txBox="1"/>
            <p:nvPr/>
          </p:nvSpPr>
          <p:spPr>
            <a:xfrm>
              <a:off x="14" y="-1140286"/>
              <a:ext cx="9207900" cy="7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52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QOS ET PRIORISATION VOIP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0" y="-212857"/>
              <a:ext cx="7624800" cy="309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9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Règles de qualité de service configurées pour garantir la priorisation du trafic VoIP sur les deux liens WAN.</a:t>
              </a:r>
              <a:endParaRPr sz="2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2" name="Google Shape;262;p10"/>
          <p:cNvSpPr txBox="1"/>
          <p:nvPr/>
        </p:nvSpPr>
        <p:spPr>
          <a:xfrm>
            <a:off x="3805675" y="904875"/>
            <a:ext cx="11257500" cy="13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pfSense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nformatique hébergé avec un remplissage uni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017" y="430664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formatique hébergé avec un remplissage uni"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5017" y="721836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formatique hébergé avec un remplissage uni" id="265" name="Google Shape;26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8027" y="430664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formatique hébergé avec un remplissage uni" id="266" name="Google Shape;26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8496" y="721836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1"/>
          <p:cNvGrpSpPr/>
          <p:nvPr/>
        </p:nvGrpSpPr>
        <p:grpSpPr>
          <a:xfrm>
            <a:off x="10824111" y="3574370"/>
            <a:ext cx="5718600" cy="2409857"/>
            <a:chOff x="0" y="-1099457"/>
            <a:chExt cx="7624800" cy="3213143"/>
          </a:xfrm>
        </p:grpSpPr>
        <p:sp>
          <p:nvSpPr>
            <p:cNvPr id="272" name="Google Shape;272;p11"/>
            <p:cNvSpPr txBox="1"/>
            <p:nvPr/>
          </p:nvSpPr>
          <p:spPr>
            <a:xfrm>
              <a:off x="0" y="-1099457"/>
              <a:ext cx="7624800" cy="6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7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QOS ET PRIORISATION VOIP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0" y="-169314"/>
              <a:ext cx="7624800" cy="22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2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Vérification de la priorisation du trafic VoIP et maintien de la qualité audio malgré la latence satellite.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4" name="Google Shape;274;p11"/>
          <p:cNvGrpSpPr/>
          <p:nvPr/>
        </p:nvGrpSpPr>
        <p:grpSpPr>
          <a:xfrm>
            <a:off x="3216956" y="3490988"/>
            <a:ext cx="5718600" cy="2839503"/>
            <a:chOff x="0" y="-1243693"/>
            <a:chExt cx="7624800" cy="3786004"/>
          </a:xfrm>
        </p:grpSpPr>
        <p:sp>
          <p:nvSpPr>
            <p:cNvPr id="275" name="Google Shape;275;p11"/>
            <p:cNvSpPr txBox="1"/>
            <p:nvPr/>
          </p:nvSpPr>
          <p:spPr>
            <a:xfrm>
              <a:off x="0" y="-1243693"/>
              <a:ext cx="76248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15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FAILOVER AUTOMATIQUE &amp; RTO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0" y="-474788"/>
              <a:ext cx="7624800" cy="30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2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Mesure du RTO (Recovery Time Objective) lors de basculations automatiques entre liens WAN terrestre et Starlink.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7" name="Google Shape;277;p11"/>
          <p:cNvGrpSpPr/>
          <p:nvPr/>
        </p:nvGrpSpPr>
        <p:grpSpPr>
          <a:xfrm>
            <a:off x="10857887" y="6493419"/>
            <a:ext cx="5718600" cy="2948684"/>
            <a:chOff x="0" y="-1017814"/>
            <a:chExt cx="7624800" cy="3931579"/>
          </a:xfrm>
        </p:grpSpPr>
        <p:sp>
          <p:nvSpPr>
            <p:cNvPr id="278" name="Google Shape;278;p11"/>
            <p:cNvSpPr txBox="1"/>
            <p:nvPr/>
          </p:nvSpPr>
          <p:spPr>
            <a:xfrm>
              <a:off x="0" y="-1017814"/>
              <a:ext cx="7624800" cy="63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7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OSPF &amp; LOAD BALANCING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0" y="-210136"/>
              <a:ext cx="7624800" cy="31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2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 du voisinage OSPF (Full/DR) et répartition du trafic 50/50 entre WAN terrestre et OPT1 Starlink.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0" name="Google Shape;280;p11"/>
          <p:cNvGrpSpPr/>
          <p:nvPr/>
        </p:nvGrpSpPr>
        <p:grpSpPr>
          <a:xfrm>
            <a:off x="3258691" y="6500575"/>
            <a:ext cx="6660911" cy="3043989"/>
            <a:chOff x="0" y="-1008273"/>
            <a:chExt cx="8881214" cy="4058652"/>
          </a:xfrm>
        </p:grpSpPr>
        <p:sp>
          <p:nvSpPr>
            <p:cNvPr id="281" name="Google Shape;281;p11"/>
            <p:cNvSpPr txBox="1"/>
            <p:nvPr/>
          </p:nvSpPr>
          <p:spPr>
            <a:xfrm>
              <a:off x="14" y="-1008273"/>
              <a:ext cx="88812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6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COUPURES PÉRIODIQUES &amp; STABILITÉ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11"/>
            <p:cNvSpPr txBox="1"/>
            <p:nvPr/>
          </p:nvSpPr>
          <p:spPr>
            <a:xfrm>
              <a:off x="0" y="-287121"/>
              <a:ext cx="7624800" cy="3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27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Simulation de micro-coupures répétées pour évaluer la stabilité du lien et l'absence de flapping prolongé.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3" name="Google Shape;283;p11"/>
          <p:cNvSpPr txBox="1"/>
          <p:nvPr/>
        </p:nvSpPr>
        <p:spPr>
          <a:xfrm>
            <a:off x="2091174" y="904875"/>
            <a:ext cx="149313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93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Protocole de test &amp; scénarios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rdinateur portable avec un remplissage uni"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1379" y="718593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Écran avec un remplissage uni" id="285" name="Google Shape;2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8390" y="714965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en secteurs avec un remplissage uni" id="286" name="Google Shape;28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98390" y="42682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ésentation avec camembert avec un remplissage uni" id="287" name="Google Shape;28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01379" y="434340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000">
        <p14:shred dir="out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/>
        </p:nvSpPr>
        <p:spPr>
          <a:xfrm>
            <a:off x="3657600" y="876300"/>
            <a:ext cx="9144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/>
          </a:p>
        </p:txBody>
      </p:sp>
      <p:pic>
        <p:nvPicPr>
          <p:cNvPr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076630"/>
            <a:ext cx="13792200" cy="7181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18"/>
          <p:cNvGrpSpPr/>
          <p:nvPr/>
        </p:nvGrpSpPr>
        <p:grpSpPr>
          <a:xfrm>
            <a:off x="10824111" y="3489666"/>
            <a:ext cx="5718600" cy="2948750"/>
            <a:chOff x="0" y="-28575"/>
            <a:chExt cx="7624800" cy="3931667"/>
          </a:xfrm>
        </p:grpSpPr>
        <p:sp>
          <p:nvSpPr>
            <p:cNvPr id="299" name="Google Shape;299;p18"/>
            <p:cNvSpPr txBox="1"/>
            <p:nvPr/>
          </p:nvSpPr>
          <p:spPr>
            <a:xfrm>
              <a:off x="0" y="-28575"/>
              <a:ext cx="76248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QOS VOIP PERFORMANTE</a:t>
              </a:r>
              <a:endParaRPr sz="1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18"/>
            <p:cNvSpPr txBox="1"/>
            <p:nvPr/>
          </p:nvSpPr>
          <p:spPr>
            <a:xfrm>
              <a:off x="0" y="836192"/>
              <a:ext cx="76248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Latence VoIP maintenue entre 13 et 28 ms. Priorisation efficace malgré la latence inhérente au lien satellitaire LEO.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1" name="Google Shape;301;p18"/>
          <p:cNvGrpSpPr/>
          <p:nvPr/>
        </p:nvGrpSpPr>
        <p:grpSpPr>
          <a:xfrm>
            <a:off x="3224915" y="3459050"/>
            <a:ext cx="5718600" cy="2946629"/>
            <a:chOff x="0" y="-28575"/>
            <a:chExt cx="7624800" cy="3928839"/>
          </a:xfrm>
        </p:grpSpPr>
        <p:sp>
          <p:nvSpPr>
            <p:cNvPr id="302" name="Google Shape;302;p18"/>
            <p:cNvSpPr txBox="1"/>
            <p:nvPr/>
          </p:nvSpPr>
          <p:spPr>
            <a:xfrm>
              <a:off x="0" y="-28575"/>
              <a:ext cx="7624800" cy="6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4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RÉSILIENCE MULTI-WAN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8"/>
            <p:cNvSpPr txBox="1"/>
            <p:nvPr/>
          </p:nvSpPr>
          <p:spPr>
            <a:xfrm>
              <a:off x="0" y="833364"/>
              <a:ext cx="76248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Architecture multi-WAN opérationnelle avec basculement automatique entre lien terrestre et Starlink sans intervention manuelle.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4" name="Google Shape;304;p18"/>
          <p:cNvGrpSpPr/>
          <p:nvPr/>
        </p:nvGrpSpPr>
        <p:grpSpPr>
          <a:xfrm>
            <a:off x="10857887" y="6745492"/>
            <a:ext cx="5718600" cy="2948750"/>
            <a:chOff x="0" y="-28575"/>
            <a:chExt cx="7624800" cy="3931667"/>
          </a:xfrm>
        </p:grpSpPr>
        <p:sp>
          <p:nvSpPr>
            <p:cNvPr id="305" name="Google Shape;305;p18"/>
            <p:cNvSpPr txBox="1"/>
            <p:nvPr/>
          </p:nvSpPr>
          <p:spPr>
            <a:xfrm>
              <a:off x="0" y="-28575"/>
              <a:ext cx="7624800" cy="7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ÉMULATION VS RÉEL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8"/>
            <p:cNvSpPr txBox="1"/>
            <p:nvPr/>
          </p:nvSpPr>
          <p:spPr>
            <a:xfrm>
              <a:off x="0" y="836192"/>
              <a:ext cx="76248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 résultats sont issus d'un banc d'essai émulé (tc netem). Des écarts avec les conditions Starlink réelles sont à anticiper.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7" name="Google Shape;307;p18"/>
          <p:cNvGrpSpPr/>
          <p:nvPr/>
        </p:nvGrpSpPr>
        <p:grpSpPr>
          <a:xfrm>
            <a:off x="3258691" y="6714876"/>
            <a:ext cx="5718600" cy="2943456"/>
            <a:chOff x="0" y="-28575"/>
            <a:chExt cx="7624800" cy="3924608"/>
          </a:xfrm>
        </p:grpSpPr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76248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RTO ET COMPLEXITÉ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18"/>
            <p:cNvSpPr txBox="1"/>
            <p:nvPr/>
          </p:nvSpPr>
          <p:spPr>
            <a:xfrm>
              <a:off x="0" y="829133"/>
              <a:ext cx="76248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RTO moyen de 16,28 s encore perfectible. Complexité de gestion accrue pour des déploiements à grande échelle.</a:t>
              </a:r>
              <a:endParaRPr sz="25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10" name="Google Shape;310;p18"/>
          <p:cNvSpPr txBox="1"/>
          <p:nvPr/>
        </p:nvSpPr>
        <p:spPr>
          <a:xfrm>
            <a:off x="4329575" y="898075"/>
            <a:ext cx="9018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9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et Limites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que à barres avec tendance à la baisse avec un remplissage uni" id="311" name="Google Shape;3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039" y="389232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baisse avec un remplissage uni" id="312" name="Google Shape;3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400" y="682050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313" name="Google Shape;3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177" y="70674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314" name="Google Shape;3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5616" y="3711197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0824111" y="3795826"/>
            <a:ext cx="5718600" cy="2387825"/>
            <a:chOff x="0" y="-28575"/>
            <a:chExt cx="7624800" cy="3183767"/>
          </a:xfrm>
        </p:grpSpPr>
        <p:sp>
          <p:nvSpPr>
            <p:cNvPr id="320" name="Google Shape;320;p19"/>
            <p:cNvSpPr txBox="1"/>
            <p:nvPr/>
          </p:nvSpPr>
          <p:spPr>
            <a:xfrm>
              <a:off x="0" y="-28575"/>
              <a:ext cx="76248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TESTS SUR LIEN RÉEL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p19"/>
            <p:cNvSpPr txBox="1"/>
            <p:nvPr/>
          </p:nvSpPr>
          <p:spPr>
            <a:xfrm>
              <a:off x="0" y="836192"/>
              <a:ext cx="7624800" cy="23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Valider les résultats sur un vrai terminal Starlink pour mesurer l'écart avec l'émulation tc netem.</a:t>
              </a:r>
              <a:endParaRPr sz="2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2" name="Google Shape;322;p19"/>
          <p:cNvGrpSpPr/>
          <p:nvPr/>
        </p:nvGrpSpPr>
        <p:grpSpPr>
          <a:xfrm>
            <a:off x="3224915" y="3703978"/>
            <a:ext cx="5718600" cy="2594777"/>
            <a:chOff x="0" y="-926646"/>
            <a:chExt cx="7624800" cy="3459703"/>
          </a:xfrm>
        </p:grpSpPr>
        <p:sp>
          <p:nvSpPr>
            <p:cNvPr id="323" name="Google Shape;323;p19"/>
            <p:cNvSpPr txBox="1"/>
            <p:nvPr/>
          </p:nvSpPr>
          <p:spPr>
            <a:xfrm>
              <a:off x="0" y="-926646"/>
              <a:ext cx="7624800" cy="7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48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NTN ET DIRECT-TO-CELL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0" y="57757"/>
              <a:ext cx="7624800" cy="24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Intégrer les paramètres NTN 3GPP (Rel. 17/18) et étudier le Direct-to-Cell.</a:t>
              </a:r>
              <a:endParaRPr sz="2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5" name="Google Shape;325;p19"/>
          <p:cNvGrpSpPr/>
          <p:nvPr/>
        </p:nvGrpSpPr>
        <p:grpSpPr>
          <a:xfrm>
            <a:off x="10857887" y="6745492"/>
            <a:ext cx="5718600" cy="2446325"/>
            <a:chOff x="0" y="-28575"/>
            <a:chExt cx="7624800" cy="3261767"/>
          </a:xfrm>
        </p:grpSpPr>
        <p:sp>
          <p:nvSpPr>
            <p:cNvPr id="326" name="Google Shape;326;p19"/>
            <p:cNvSpPr txBox="1"/>
            <p:nvPr/>
          </p:nvSpPr>
          <p:spPr>
            <a:xfrm>
              <a:off x="0" y="-28575"/>
              <a:ext cx="76248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MPTCP ET RTO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p19"/>
            <p:cNvSpPr txBox="1"/>
            <p:nvPr/>
          </p:nvSpPr>
          <p:spPr>
            <a:xfrm>
              <a:off x="0" y="836192"/>
              <a:ext cx="7624800" cy="23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Explorer MPTCP et affiner dpinger et les seuils de détection pour réduire le RTO moyen de 16,28 s.</a:t>
              </a:r>
              <a:endParaRPr sz="27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8" name="Google Shape;328;p19"/>
          <p:cNvGrpSpPr/>
          <p:nvPr/>
        </p:nvGrpSpPr>
        <p:grpSpPr>
          <a:xfrm>
            <a:off x="3258691" y="6714876"/>
            <a:ext cx="5718600" cy="2616756"/>
            <a:chOff x="0" y="-28575"/>
            <a:chExt cx="7624800" cy="3489008"/>
          </a:xfrm>
        </p:grpSpPr>
        <p:sp>
          <p:nvSpPr>
            <p:cNvPr id="329" name="Google Shape;329;p19"/>
            <p:cNvSpPr txBox="1"/>
            <p:nvPr/>
          </p:nvSpPr>
          <p:spPr>
            <a:xfrm>
              <a:off x="0" y="-28575"/>
              <a:ext cx="7624800" cy="7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3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97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PASSAGE À L'ÉCHELLE</a:t>
              </a:r>
              <a:endParaRPr sz="2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19"/>
            <p:cNvSpPr txBox="1"/>
            <p:nvPr/>
          </p:nvSpPr>
          <p:spPr>
            <a:xfrm>
              <a:off x="0" y="829133"/>
              <a:ext cx="7624800" cy="26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73">
                  <a:solidFill>
                    <a:srgbClr val="19191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Automatiser le déploiement, superviser plusieurs sites et estimer le coût total (TCO).</a:t>
              </a:r>
              <a:endParaRPr sz="3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1" name="Google Shape;331;p19"/>
          <p:cNvSpPr txBox="1"/>
          <p:nvPr/>
        </p:nvSpPr>
        <p:spPr>
          <a:xfrm>
            <a:off x="6316197" y="1571625"/>
            <a:ext cx="4889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99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Graphique à barres avec tendance à la baisse avec un remplissage uni" id="332" name="Google Shape;3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4039" y="42291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baisse avec un remplissage uni" id="333" name="Google Shape;3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400" y="709605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334" name="Google Shape;3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177" y="70674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que à barres avec tendance à la hausse avec un remplissage uni" id="335" name="Google Shape;3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66848" y="432351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"/>
          <p:cNvSpPr txBox="1"/>
          <p:nvPr/>
        </p:nvSpPr>
        <p:spPr>
          <a:xfrm>
            <a:off x="5703875" y="408212"/>
            <a:ext cx="54711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99">
                <a:solidFill>
                  <a:srgbClr val="2C92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5174125" y="2212975"/>
            <a:ext cx="12308700" cy="6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conclure, ce projet démontre qu'il est possible d'intégrer Starlink comme un véritable lien WAN, avec une bascule automatique fiable et mesurée : failover stable à 16,3 secondes en moyenne, QoS VoIP préservée, routage OSPF et supervision Zabbix opérationnels. Les points plus théoriques  norme NTN, Direct-to-Cell, MPTCP  restent des perspectives d'évolution. Nous sommes prêts pour vos questions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75" y="2850700"/>
            <a:ext cx="4185126" cy="586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21"/>
          <p:cNvGrpSpPr/>
          <p:nvPr/>
        </p:nvGrpSpPr>
        <p:grpSpPr>
          <a:xfrm>
            <a:off x="3105150" y="3668750"/>
            <a:ext cx="13557600" cy="3306753"/>
            <a:chOff x="0" y="486285"/>
            <a:chExt cx="18076800" cy="4409004"/>
          </a:xfrm>
        </p:grpSpPr>
        <p:sp>
          <p:nvSpPr>
            <p:cNvPr id="348" name="Google Shape;348;p21"/>
            <p:cNvSpPr txBox="1"/>
            <p:nvPr/>
          </p:nvSpPr>
          <p:spPr>
            <a:xfrm>
              <a:off x="0" y="486285"/>
              <a:ext cx="18076800" cy="174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494">
                  <a:solidFill>
                    <a:srgbClr val="2C92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Merci de votre attention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21"/>
            <p:cNvSpPr txBox="1"/>
            <p:nvPr/>
          </p:nvSpPr>
          <p:spPr>
            <a:xfrm>
              <a:off x="0" y="4431284"/>
              <a:ext cx="12831949" cy="4640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23">
                <a:solidFill>
                  <a:srgbClr val="1353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